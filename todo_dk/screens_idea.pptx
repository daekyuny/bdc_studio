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82F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770" autoAdjust="0"/>
    <p:restoredTop sz="94660"/>
  </p:normalViewPr>
  <p:slideViewPr>
    <p:cSldViewPr snapToGrid="0">
      <p:cViewPr varScale="1">
        <p:scale>
          <a:sx n="92" d="100"/>
          <a:sy n="92" d="100"/>
        </p:scale>
        <p:origin x="84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8CBEFD-4138-D90D-4D1A-910E77E11E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26AA082-DE27-4936-6B8D-A9FFBECF3F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F7CD98-3CA3-17D4-1F4E-95F3B5485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D3015-C38B-457C-8636-B812D0BA69D6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34ACD1-907D-1770-5F45-0BFD7991F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D02BD3-526D-1F7A-38B2-A1500C960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27E04-12D3-49F7-BAA4-A8F3F73A46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8342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DC3383-D349-7464-913C-B20759502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4D4727-1C26-5F11-59B8-5D096394C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442909-A964-04EA-CFB1-DAF30BFB4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D3015-C38B-457C-8636-B812D0BA69D6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E0EB2B-336E-C75A-2D37-497AC2341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F74828-5B5E-BD5B-F71E-EC28D449D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27E04-12D3-49F7-BAA4-A8F3F73A46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9003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9F2CC9-0B1D-507E-7E77-C7CB9BD2D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632A3E-A7BF-518D-9E5C-667D013638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5FE4FF-9824-CFFC-2B6F-8F74F7F9F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D3015-C38B-457C-8636-B812D0BA69D6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4705C2-6634-EFD2-8C4A-F4300CA86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59B898-69D9-71E6-8FA9-1C55E3903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27E04-12D3-49F7-BAA4-A8F3F73A46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835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D44B2C-C09C-BD54-C8CE-AF2FECFA5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48A9DF-12AA-D009-45F5-8684DD7BE9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1D012D7-0343-067B-0445-358F6D8CC3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2ED38DF-6911-3948-8605-073897375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D3015-C38B-457C-8636-B812D0BA69D6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20691D6-F141-6000-D94F-28F6AA6F4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A574BA5-0439-5D96-BEF5-6CEB9CF43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27E04-12D3-49F7-BAA4-A8F3F73A46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9385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C7A45B-D722-1995-BD16-CED0737AC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63F89FF-F1FB-6BA7-4454-372D3537B1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46AD5B1-BF26-C827-F431-090F93A98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004CFDF-E8CD-5F51-0546-0039EC05CF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7C77B35-1C5E-DA55-ABB3-2945DDD2BE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B920BCD-9D5D-7C68-4BB5-420DBCE41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D3015-C38B-457C-8636-B812D0BA69D6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4FED209-E300-B364-202D-4092377AF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7D4068E-11FD-6EF0-8906-887943231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27E04-12D3-49F7-BAA4-A8F3F73A46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0817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C16E47-80DE-CE83-4A2B-B3565009E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A421844-BAA2-BDCB-26D9-8EB9DF451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D3015-C38B-457C-8636-B812D0BA69D6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C4DDBD9-9FD0-85B7-1F82-2858C860D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57AF7FE-62BD-749B-71AD-E17B35D57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27E04-12D3-49F7-BAA4-A8F3F73A46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7176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7AB158C-ED12-FB40-D4F2-751A141EC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D3015-C38B-457C-8636-B812D0BA69D6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1EF69D7-D428-31A2-1C0C-4C4A3ACFD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0B6181-C0FF-7047-D6AF-97A14DA22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27E04-12D3-49F7-BAA4-A8F3F73A46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6480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6B9BDC-91BF-4CCF-BEC7-036E0A4B9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426F41-D330-891C-C9BB-10B5F7B01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0E13406-618C-D222-DA55-47AD59463E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D67DD3-E87F-C56C-16D0-3514A9140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D3015-C38B-457C-8636-B812D0BA69D6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DA4AC66-5155-F5B6-11FD-95147CF13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BA78B40-4242-A409-C13D-04E8BC8F6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27E04-12D3-49F7-BAA4-A8F3F73A46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4212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52A23F-5D90-3E5F-3BED-5BCDC6578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056F61A-1D1D-4820-CEBA-DE496B4E1B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712AA9-BFFF-3CFF-2E4B-76069ABC0B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E86DD08-D6D3-7CCB-5DF6-64F729D66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D3015-C38B-457C-8636-B812D0BA69D6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4A59CE9-F7CF-49C7-BAB5-09AE83E59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8FE056A-F9F9-A62F-F888-DC54B40C8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27E04-12D3-49F7-BAA4-A8F3F73A46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3304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AC276A-8D97-A5F0-090F-57AFC1968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41FCB53-E2CA-36AD-5E20-46D2039F59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FF5044-6555-988B-FF35-3FD911CBD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D3015-C38B-457C-8636-B812D0BA69D6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DDB908-F3EF-F5B4-E780-C29BC11D5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DBAD5E-5483-0B56-7177-EDE2E1C5C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27E04-12D3-49F7-BAA4-A8F3F73A46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0659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1E6F798-3DF3-1400-C336-AC554B3261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ABCFE1E-58CB-DE99-2EF1-8A54241E03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3D3B7B-A1F6-DA4E-8CB9-CC316A090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D3015-C38B-457C-8636-B812D0BA69D6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0141A7-25C5-B25B-CA75-856A58862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DD4E48-453D-32EB-803A-0143739B9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27E04-12D3-49F7-BAA4-A8F3F73A46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3919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9BC497D-E96A-36C5-86DD-CB82C0863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E083B2D-8672-7550-83D1-4F1D9C8856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490BCF-9524-247D-693D-3F2AE42ACB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ED3015-C38B-457C-8636-B812D0BA69D6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C5101C-4E3B-DDB0-241A-BF6ADE913B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C32241-3F4B-2B91-6279-CA60322348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627E04-12D3-49F7-BAA4-A8F3F73A46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916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77282FF-7EA6-1FC9-2D1E-BE8205968FD2}"/>
              </a:ext>
            </a:extLst>
          </p:cNvPr>
          <p:cNvCxnSpPr/>
          <p:nvPr/>
        </p:nvCxnSpPr>
        <p:spPr>
          <a:xfrm>
            <a:off x="4759037" y="1886742"/>
            <a:ext cx="0" cy="11014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B7995CA-AEAE-2736-9B95-1A8D5AE0640A}"/>
              </a:ext>
            </a:extLst>
          </p:cNvPr>
          <p:cNvCxnSpPr>
            <a:cxnSpLocks/>
          </p:cNvCxnSpPr>
          <p:nvPr/>
        </p:nvCxnSpPr>
        <p:spPr>
          <a:xfrm flipH="1">
            <a:off x="4759037" y="2988178"/>
            <a:ext cx="133696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8B474E95-149F-3DB2-8F87-E881D6F1322B}"/>
              </a:ext>
            </a:extLst>
          </p:cNvPr>
          <p:cNvCxnSpPr>
            <a:cxnSpLocks/>
          </p:cNvCxnSpPr>
          <p:nvPr/>
        </p:nvCxnSpPr>
        <p:spPr>
          <a:xfrm>
            <a:off x="4759037" y="1964674"/>
            <a:ext cx="1226127" cy="1023504"/>
          </a:xfrm>
          <a:prstGeom prst="line">
            <a:avLst/>
          </a:prstGeom>
          <a:ln>
            <a:solidFill>
              <a:srgbClr val="3D82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ECEB45E0-CE4B-18B0-24FB-44D55FC30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5613" y="3341470"/>
            <a:ext cx="1143160" cy="104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568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1731CDE-488E-04AE-F71D-801852804CC6}"/>
              </a:ext>
            </a:extLst>
          </p:cNvPr>
          <p:cNvSpPr/>
          <p:nvPr/>
        </p:nvSpPr>
        <p:spPr>
          <a:xfrm>
            <a:off x="972273" y="416689"/>
            <a:ext cx="4977114" cy="6041984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F8F517-54C2-774C-40DC-63696C26D740}"/>
              </a:ext>
            </a:extLst>
          </p:cNvPr>
          <p:cNvSpPr txBox="1"/>
          <p:nvPr/>
        </p:nvSpPr>
        <p:spPr>
          <a:xfrm>
            <a:off x="0" y="-8940"/>
            <a:ext cx="3505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Burndown Studio Landing page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089F73-70A3-48C8-6D4D-B7A0B130AB7B}"/>
              </a:ext>
            </a:extLst>
          </p:cNvPr>
          <p:cNvSpPr txBox="1"/>
          <p:nvPr/>
        </p:nvSpPr>
        <p:spPr>
          <a:xfrm>
            <a:off x="2245436" y="694480"/>
            <a:ext cx="2196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Burndown Studio</a:t>
            </a:r>
            <a:endParaRPr lang="ko-KR" altLang="en-US" sz="20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B294476-C5F1-5DD3-D421-8A881F5B8207}"/>
              </a:ext>
            </a:extLst>
          </p:cNvPr>
          <p:cNvSpPr/>
          <p:nvPr/>
        </p:nvSpPr>
        <p:spPr>
          <a:xfrm>
            <a:off x="1319514" y="694480"/>
            <a:ext cx="879676" cy="82180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Small image </a:t>
            </a:r>
            <a:r>
              <a:rPr lang="en-US" altLang="ko-KR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symboizing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burndown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chart</a:t>
            </a:r>
            <a:endParaRPr lang="ko-KR" alt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4DEECA-7FEE-BB2E-9648-E8713F183F5F}"/>
              </a:ext>
            </a:extLst>
          </p:cNvPr>
          <p:cNvSpPr txBox="1"/>
          <p:nvPr/>
        </p:nvSpPr>
        <p:spPr>
          <a:xfrm>
            <a:off x="2245436" y="1084866"/>
            <a:ext cx="27013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Sprint burndown tracking for teams</a:t>
            </a:r>
            <a:endParaRPr lang="ko-KR" altLang="en-US" sz="12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07B1BE0-15F0-2683-E808-C96F7DFA69C1}"/>
              </a:ext>
            </a:extLst>
          </p:cNvPr>
          <p:cNvSpPr/>
          <p:nvPr/>
        </p:nvSpPr>
        <p:spPr>
          <a:xfrm>
            <a:off x="1370265" y="1906668"/>
            <a:ext cx="3946967" cy="2132897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33FDC0-21F2-9A56-514C-2BED1C5D4B4C}"/>
              </a:ext>
            </a:extLst>
          </p:cNvPr>
          <p:cNvSpPr txBox="1"/>
          <p:nvPr/>
        </p:nvSpPr>
        <p:spPr>
          <a:xfrm>
            <a:off x="1370265" y="1628878"/>
            <a:ext cx="21702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(Section for  Already a User)</a:t>
            </a:r>
            <a:endParaRPr lang="ko-KR" altLang="en-US" sz="12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717733E-72CD-001B-FDD5-0B53BDEDF6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9639"/>
          <a:stretch>
            <a:fillRect/>
          </a:stretch>
        </p:blipFill>
        <p:spPr>
          <a:xfrm>
            <a:off x="1394701" y="2018472"/>
            <a:ext cx="3047362" cy="96215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0448DA90-C6A9-6EFA-27A3-5BF3D0452B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3471" y="3036928"/>
            <a:ext cx="781159" cy="276264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3C723B6D-FED0-E255-88C6-AA3C80A9B1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9009" b="-10434"/>
          <a:stretch>
            <a:fillRect/>
          </a:stretch>
        </p:blipFill>
        <p:spPr>
          <a:xfrm>
            <a:off x="1443433" y="3601722"/>
            <a:ext cx="3649428" cy="452374"/>
          </a:xfrm>
          <a:prstGeom prst="rect">
            <a:avLst/>
          </a:prstGeom>
        </p:spPr>
      </p:pic>
      <p:sp>
        <p:nvSpPr>
          <p:cNvPr id="28" name="직사각형 27">
            <a:extLst>
              <a:ext uri="{FF2B5EF4-FFF2-40B4-BE49-F238E27FC236}">
                <a16:creationId xmlns:a16="http://schemas.microsoft.com/office/drawing/2014/main" id="{A93C0509-4671-BBDF-7BFB-0588C2FF82E3}"/>
              </a:ext>
            </a:extLst>
          </p:cNvPr>
          <p:cNvSpPr/>
          <p:nvPr/>
        </p:nvSpPr>
        <p:spPr>
          <a:xfrm>
            <a:off x="1370265" y="4468466"/>
            <a:ext cx="3946967" cy="1585093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E9C60E1-32EA-FD0D-AE7E-12D7BF5BE9A6}"/>
              </a:ext>
            </a:extLst>
          </p:cNvPr>
          <p:cNvSpPr txBox="1"/>
          <p:nvPr/>
        </p:nvSpPr>
        <p:spPr>
          <a:xfrm>
            <a:off x="1370265" y="4190676"/>
            <a:ext cx="19505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(Section for  PM request)</a:t>
            </a:r>
            <a:endParaRPr lang="ko-KR" altLang="en-US" sz="1200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F7E6F557-D77F-AC20-B5E7-6F22BA92EA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3433" y="4584368"/>
            <a:ext cx="4044475" cy="945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296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D5F1D65-2D23-527A-4E8D-45F57D8941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8426640"/>
              </p:ext>
            </p:extLst>
          </p:nvPr>
        </p:nvGraphicFramePr>
        <p:xfrm>
          <a:off x="2887039" y="720951"/>
          <a:ext cx="3318552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4315">
                  <a:extLst>
                    <a:ext uri="{9D8B030D-6E8A-4147-A177-3AD203B41FA5}">
                      <a16:colId xmlns:a16="http://schemas.microsoft.com/office/drawing/2014/main" val="3698954413"/>
                    </a:ext>
                  </a:extLst>
                </a:gridCol>
                <a:gridCol w="1258784">
                  <a:extLst>
                    <a:ext uri="{9D8B030D-6E8A-4147-A177-3AD203B41FA5}">
                      <a16:colId xmlns:a16="http://schemas.microsoft.com/office/drawing/2014/main" val="1929771528"/>
                    </a:ext>
                  </a:extLst>
                </a:gridCol>
                <a:gridCol w="1375453">
                  <a:extLst>
                    <a:ext uri="{9D8B030D-6E8A-4147-A177-3AD203B41FA5}">
                      <a16:colId xmlns:a16="http://schemas.microsoft.com/office/drawing/2014/main" val="23117424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Total Assigned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672319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Member 1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603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Member 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245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Member 3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6132846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4BDC453B-50DF-49B0-6AA8-FBFD2C3891DC}"/>
              </a:ext>
            </a:extLst>
          </p:cNvPr>
          <p:cNvSpPr/>
          <p:nvPr/>
        </p:nvSpPr>
        <p:spPr>
          <a:xfrm>
            <a:off x="3248349" y="1221674"/>
            <a:ext cx="215758" cy="1952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2DAF0AF-176A-B782-CD83-7B9360923E17}"/>
              </a:ext>
            </a:extLst>
          </p:cNvPr>
          <p:cNvSpPr/>
          <p:nvPr/>
        </p:nvSpPr>
        <p:spPr>
          <a:xfrm>
            <a:off x="3248349" y="1574895"/>
            <a:ext cx="215758" cy="1952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0BB96FD-0955-07D0-DEE7-52EAF77C7F84}"/>
              </a:ext>
            </a:extLst>
          </p:cNvPr>
          <p:cNvSpPr/>
          <p:nvPr/>
        </p:nvSpPr>
        <p:spPr>
          <a:xfrm>
            <a:off x="3248349" y="1928117"/>
            <a:ext cx="215758" cy="1952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52485B-2E22-1611-1917-C2AF5CCB3D2E}"/>
              </a:ext>
            </a:extLst>
          </p:cNvPr>
          <p:cNvSpPr txBox="1"/>
          <p:nvPr/>
        </p:nvSpPr>
        <p:spPr>
          <a:xfrm>
            <a:off x="3920623" y="236305"/>
            <a:ext cx="1928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Assign Members</a:t>
            </a:r>
            <a:endParaRPr lang="ko-KR" alt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305F82A4-7D32-6B0D-1B43-BE163B739D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0620279"/>
              </p:ext>
            </p:extLst>
          </p:nvPr>
        </p:nvGraphicFramePr>
        <p:xfrm>
          <a:off x="464544" y="3821994"/>
          <a:ext cx="11482094" cy="222179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0698">
                  <a:extLst>
                    <a:ext uri="{9D8B030D-6E8A-4147-A177-3AD203B41FA5}">
                      <a16:colId xmlns:a16="http://schemas.microsoft.com/office/drawing/2014/main" val="1333124094"/>
                    </a:ext>
                  </a:extLst>
                </a:gridCol>
                <a:gridCol w="937549">
                  <a:extLst>
                    <a:ext uri="{9D8B030D-6E8A-4147-A177-3AD203B41FA5}">
                      <a16:colId xmlns:a16="http://schemas.microsoft.com/office/drawing/2014/main" val="4243936050"/>
                    </a:ext>
                  </a:extLst>
                </a:gridCol>
                <a:gridCol w="856527">
                  <a:extLst>
                    <a:ext uri="{9D8B030D-6E8A-4147-A177-3AD203B41FA5}">
                      <a16:colId xmlns:a16="http://schemas.microsoft.com/office/drawing/2014/main" val="2909922379"/>
                    </a:ext>
                  </a:extLst>
                </a:gridCol>
                <a:gridCol w="836273">
                  <a:extLst>
                    <a:ext uri="{9D8B030D-6E8A-4147-A177-3AD203B41FA5}">
                      <a16:colId xmlns:a16="http://schemas.microsoft.com/office/drawing/2014/main" val="3563616936"/>
                    </a:ext>
                  </a:extLst>
                </a:gridCol>
                <a:gridCol w="911504">
                  <a:extLst>
                    <a:ext uri="{9D8B030D-6E8A-4147-A177-3AD203B41FA5}">
                      <a16:colId xmlns:a16="http://schemas.microsoft.com/office/drawing/2014/main" val="3045379400"/>
                    </a:ext>
                  </a:extLst>
                </a:gridCol>
                <a:gridCol w="833377">
                  <a:extLst>
                    <a:ext uri="{9D8B030D-6E8A-4147-A177-3AD203B41FA5}">
                      <a16:colId xmlns:a16="http://schemas.microsoft.com/office/drawing/2014/main" val="3267333709"/>
                    </a:ext>
                  </a:extLst>
                </a:gridCol>
                <a:gridCol w="885468">
                  <a:extLst>
                    <a:ext uri="{9D8B030D-6E8A-4147-A177-3AD203B41FA5}">
                      <a16:colId xmlns:a16="http://schemas.microsoft.com/office/drawing/2014/main" val="2234040975"/>
                    </a:ext>
                  </a:extLst>
                </a:gridCol>
                <a:gridCol w="1047504">
                  <a:extLst>
                    <a:ext uri="{9D8B030D-6E8A-4147-A177-3AD203B41FA5}">
                      <a16:colId xmlns:a16="http://schemas.microsoft.com/office/drawing/2014/main" val="1607609651"/>
                    </a:ext>
                  </a:extLst>
                </a:gridCol>
                <a:gridCol w="844952">
                  <a:extLst>
                    <a:ext uri="{9D8B030D-6E8A-4147-A177-3AD203B41FA5}">
                      <a16:colId xmlns:a16="http://schemas.microsoft.com/office/drawing/2014/main" val="2007985355"/>
                    </a:ext>
                  </a:extLst>
                </a:gridCol>
                <a:gridCol w="737893">
                  <a:extLst>
                    <a:ext uri="{9D8B030D-6E8A-4147-A177-3AD203B41FA5}">
                      <a16:colId xmlns:a16="http://schemas.microsoft.com/office/drawing/2014/main" val="3335993240"/>
                    </a:ext>
                  </a:extLst>
                </a:gridCol>
                <a:gridCol w="1009884">
                  <a:extLst>
                    <a:ext uri="{9D8B030D-6E8A-4147-A177-3AD203B41FA5}">
                      <a16:colId xmlns:a16="http://schemas.microsoft.com/office/drawing/2014/main" val="2229951704"/>
                    </a:ext>
                  </a:extLst>
                </a:gridCol>
                <a:gridCol w="879676">
                  <a:extLst>
                    <a:ext uri="{9D8B030D-6E8A-4147-A177-3AD203B41FA5}">
                      <a16:colId xmlns:a16="http://schemas.microsoft.com/office/drawing/2014/main" val="1259541913"/>
                    </a:ext>
                  </a:extLst>
                </a:gridCol>
                <a:gridCol w="740789">
                  <a:extLst>
                    <a:ext uri="{9D8B030D-6E8A-4147-A177-3AD203B41FA5}">
                      <a16:colId xmlns:a16="http://schemas.microsoft.com/office/drawing/2014/main" val="219832262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Sprint</a:t>
                      </a:r>
                      <a:endParaRPr lang="ko-KR" altLang="en-US" sz="1400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Member 1</a:t>
                      </a:r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Member 2</a:t>
                      </a:r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Member 3</a:t>
                      </a:r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Total</a:t>
                      </a:r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9663972"/>
                  </a:ext>
                </a:extLst>
              </a:tr>
              <a:tr h="367591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assigned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worked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remain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assigned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worked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remain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assigned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worked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remain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assigned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worked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remain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3602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Sprint 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7483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Sprint 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4682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Sprint 3</a:t>
                      </a:r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4843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Total</a:t>
                      </a:r>
                      <a:endParaRPr lang="ko-KR" alt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286269814"/>
                  </a:ext>
                </a:extLst>
              </a:tr>
            </a:tbl>
          </a:graphicData>
        </a:graphic>
      </p:graphicFrame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18A89BAF-BBCE-0C91-8395-0150EB9DB905}"/>
              </a:ext>
            </a:extLst>
          </p:cNvPr>
          <p:cNvCxnSpPr/>
          <p:nvPr/>
        </p:nvCxnSpPr>
        <p:spPr>
          <a:xfrm>
            <a:off x="9365475" y="3821994"/>
            <a:ext cx="0" cy="22217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A5E69D5-FB80-5974-B25B-1C9B18F54B67}"/>
              </a:ext>
            </a:extLst>
          </p:cNvPr>
          <p:cNvCxnSpPr/>
          <p:nvPr/>
        </p:nvCxnSpPr>
        <p:spPr>
          <a:xfrm>
            <a:off x="464544" y="5717894"/>
            <a:ext cx="1148209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56CA0A0-5667-D248-FD27-577AD25AF10C}"/>
              </a:ext>
            </a:extLst>
          </p:cNvPr>
          <p:cNvSpPr txBox="1"/>
          <p:nvPr/>
        </p:nvSpPr>
        <p:spPr>
          <a:xfrm>
            <a:off x="464544" y="3424407"/>
            <a:ext cx="7416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TODAY</a:t>
            </a:r>
            <a:endParaRPr lang="ko-KR" altLang="en-US" sz="14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F82F342-A0DB-F64A-081A-E266A3B4159C}"/>
              </a:ext>
            </a:extLst>
          </p:cNvPr>
          <p:cNvSpPr/>
          <p:nvPr/>
        </p:nvSpPr>
        <p:spPr>
          <a:xfrm>
            <a:off x="1206157" y="3442816"/>
            <a:ext cx="1319514" cy="2893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D9DABB-3D2B-ABFA-A570-2D4B729327D2}"/>
              </a:ext>
            </a:extLst>
          </p:cNvPr>
          <p:cNvSpPr txBox="1"/>
          <p:nvPr/>
        </p:nvSpPr>
        <p:spPr>
          <a:xfrm>
            <a:off x="1302298" y="3424406"/>
            <a:ext cx="1127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2026-04-01</a:t>
            </a:r>
            <a:endParaRPr lang="ko-KR" altLang="en-US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266DD2-1C6E-275B-2CA8-1D9C3A351536}"/>
              </a:ext>
            </a:extLst>
          </p:cNvPr>
          <p:cNvSpPr txBox="1"/>
          <p:nvPr/>
        </p:nvSpPr>
        <p:spPr>
          <a:xfrm>
            <a:off x="5439474" y="2689378"/>
            <a:ext cx="1313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Dashboard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85688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69</Words>
  <Application>Microsoft Office PowerPoint</Application>
  <PresentationFormat>와이드스크린</PresentationFormat>
  <Paragraphs>35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Daekyun Yoon</dc:creator>
  <cp:lastModifiedBy>Daekyun Yoon</cp:lastModifiedBy>
  <cp:revision>9</cp:revision>
  <dcterms:created xsi:type="dcterms:W3CDTF">2026-03-14T08:46:30Z</dcterms:created>
  <dcterms:modified xsi:type="dcterms:W3CDTF">2026-04-01T15:31:19Z</dcterms:modified>
</cp:coreProperties>
</file>